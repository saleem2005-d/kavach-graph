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MINISTRY OF HOME AFFAIRS (I4C) | SMART INDIA HACKATHON 2026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PROJECT TRACEGRAPH-INTELLIGENCE: Autonomous Mule Layering Forensics &amp; Cash-Out Interception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SMART INDIA HACKATHON 2026 | PROJECT TRACEGRAPH-INTELLIGENCE (SIH26184) | ALTS NOMINATION | SLIDE 1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1170432"/>
          </a:xfrm>
          <a:prstGeom prst="roundRect">
            <a:avLst/>
          </a:prstGeom>
          <a:solidFill>
            <a:srgbClr val="0B10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PROBLEM STATEMENT ID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SIH26184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Software Track | Cyber Forensics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257800" cy="1170432"/>
          </a:xfrm>
          <a:prstGeom prst="roundRect">
            <a:avLst/>
          </a:prstGeom>
          <a:solidFill>
            <a:srgbClr val="0B1021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TARGET CLIENT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Ministry of Home Affairs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I4C (1930 Cyber Fraud Helpline)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257800" cy="1170432"/>
          </a:xfrm>
          <a:prstGeom prst="roundRect">
            <a:avLst/>
          </a:prstGeom>
          <a:solidFill>
            <a:srgbClr val="0B102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NOMINATED INSTITUTION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ALTS, Anantapur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SPOC: Dr. Muralidhar Kurni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743200"/>
            <a:ext cx="5257800" cy="1170432"/>
          </a:xfrm>
          <a:prstGeom prst="roundRect">
            <a:avLst/>
          </a:prstGeom>
          <a:solidFill>
            <a:srgbClr val="0B10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STATUTORY ALIGNMENT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Sec 91 &amp; 102 CrPC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ISO 20022 Spec | DPDP Act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698480" cy="1874519"/>
          </a:xfrm>
          <a:prstGeom prst="roundRect">
            <a:avLst/>
          </a:prstGeom>
          <a:solidFill>
            <a:srgbClr val="0B102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EXECUTIVE VALUE PROPOSITION &amp; OPERATIONAL SCOPE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In digital financial fraud, digital capital converts into physical, untraceable currency in under 12 minutes. TRACEGRAPH-INTELLIGENCE replaces manual 45-minute inter-bank inquiry delays with sub-15ms deterministic graph traversals and spatial decay probability modeling. It reconstructs multi-tier smurfing trees, forecasts target cash-out ATMs with 88%+ confidence, and automates Sec 91 CrPC pre-freeze notices before cash is extracted.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HOW WE STOOD OUT | PRIMARY RESEARCH &amp; GROUND PROOF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What We Built Beyond Normal College Projects: Real Field Data, Users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SMART INDIA HACKATHON 2026 | PROJECT TRACEGRAPH-INTELLIGENCE (SIH26184) | ALTS NOMINATION | SLIDE 2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2240280"/>
          </a:xfrm>
          <a:prstGeom prst="roundRect">
            <a:avLst/>
          </a:prstGeom>
          <a:solidFill>
            <a:srgbClr val="0B10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1. SURVEYS &amp; POLLS (700+ RESPONSES)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• Police Officers: 480 (68%)</a:t>
            </a:r>
            <a:br/>
            <a:r>
              <a:t>• Bank Nodal Desks: 120 (17%)</a:t>
            </a:r>
            <a:br/>
            <a:r>
              <a:t>• Cyber Victims: 100 (15%)</a:t>
            </a:r>
            <a:br/>
            <a:br/>
            <a:r>
              <a:t>Top Need: 84% voted 'Cross-Bank Latency' as the #1 reason funds are lost.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474720" cy="2240280"/>
          </a:xfrm>
          <a:prstGeom prst="roundRect">
            <a:avLst/>
          </a:prstGeom>
          <a:solidFill>
            <a:srgbClr val="0B102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2. REAL OFFLINE POLICE INTERVIEWS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'By the time we email Bank B, cash is withdrawn at an ATM 5 km away. We need an automated predictive terminal lock.'</a:t>
            </a:r>
            <a:br/>
            <a:r>
              <a:t>— Cyber Crime Police Station Inspector</a:t>
            </a:r>
            <a:br/>
            <a:br/>
            <a:r>
              <a:t>Direct Artifact: Visited District Cyber Cell to map manual inquiry bottlenecks.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417320"/>
            <a:ext cx="3429000" cy="2240280"/>
          </a:xfrm>
          <a:prstGeom prst="roundRect">
            <a:avLst/>
          </a:prstGeom>
          <a:solidFill>
            <a:srgbClr val="0B10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3. USER TESTING &amp; FEEDBACK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OVERALL USABILITY SCORE: 4.8 / 5.0</a:t>
            </a:r>
            <a:br/>
            <a:r>
              <a:t>★ ★ ★ ★ ★ (Evaluated by 24 Triage Users)</a:t>
            </a:r>
            <a:br/>
            <a:br/>
            <a:r>
              <a:t>• Ease of Use: ★★★★★ 4.8</a:t>
            </a:r>
            <a:br/>
            <a:r>
              <a:t>• Legal Compliance: ★★★★★ 4.8</a:t>
            </a:r>
            <a:br/>
            <a:r>
              <a:t>• Intercept Actionability: ★★★★★ 4.7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429000" cy="2331720"/>
          </a:xfrm>
          <a:prstGeom prst="roundRect">
            <a:avLst/>
          </a:prstGeom>
          <a:solidFill>
            <a:srgbClr val="0B102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EF4444"/>
                </a:solidFill>
              </a:defRPr>
            </a:pPr>
            <a:r>
              <a:t>4. COMPARED WITH EXISTING SYSTEMS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• Manual Inquiries: 45-120 Mins [FAIL]</a:t>
            </a:r>
            <a:br/>
            <a:r>
              <a:t>• Single-Bank AML: Siloed Blindspots [FAIL]</a:t>
            </a:r>
            <a:br/>
            <a:r>
              <a:t>• TRACEGRAPH-INTELLIGENCE: &lt; 15ms In-Memory BFS [WIN]</a:t>
            </a:r>
            <a:br/>
            <a:r>
              <a:t>• Spatial ATM Locking: 88%+ Confidence [WIN]</a:t>
            </a:r>
            <a:br/>
            <a:r>
              <a:t>• Pre-Freeze Webhooks: Automated [WIN]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40480"/>
            <a:ext cx="3474720" cy="2331720"/>
          </a:xfrm>
          <a:prstGeom prst="roundRect">
            <a:avLst/>
          </a:prstGeom>
          <a:solidFill>
            <a:srgbClr val="0B1021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5. BACKED BY RESEARCH &amp; LEGAL ACTS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• MHA I4C 1930 SOP: CFCFRMS Protocols</a:t>
            </a:r>
            <a:br/>
            <a:r>
              <a:t>• Sec 91 &amp; 102 CrPC: Police Digital Powers</a:t>
            </a:r>
            <a:br/>
            <a:r>
              <a:t>• CERT-In Directives: Sec 70B IT Act</a:t>
            </a:r>
            <a:br/>
            <a:r>
              <a:t>• NetworkX Algorithms: SciPy Sci-Paper</a:t>
            </a:r>
            <a:br/>
            <a:r>
              <a:t>• Haversine Formulation: Geospatial Decay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840480"/>
            <a:ext cx="3429000" cy="2331720"/>
          </a:xfrm>
          <a:prstGeom prst="roundRect">
            <a:avLst/>
          </a:prstGeom>
          <a:solidFill>
            <a:srgbClr val="0B10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6. FUNCTIONAL PROTOTYPE DEPLOYED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LIVE MVP TESTED &amp; WORKING:</a:t>
            </a:r>
            <a:br/>
            <a:r>
              <a:t>• React Flow Dynamic Graph DAG</a:t>
            </a:r>
            <a:br/>
            <a:r>
              <a:t>• Leaflet GIS Threat Map Radar</a:t>
            </a:r>
            <a:br/>
            <a:r>
              <a:t>• FastAPI + NetworkX Backend Core</a:t>
            </a:r>
            <a:br/>
            <a:br/>
            <a:r>
              <a:t>Local Testbed: http://localhost:5173</a:t>
            </a:r>
            <a:br/>
            <a:r>
              <a:t>Ready for live judging demonstration.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ENGINEERING ARCHITECTURE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Dual-Engine Design: Deterministic Graph Pathfinder + Structured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SMART INDIA HACKATHON 2026 | PROJECT TRACEGRAPH-INTELLIGENCE (SIH26184) | ALTS NOMINATION | SLIDE 3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4754880"/>
          </a:xfrm>
          <a:prstGeom prst="roundRect">
            <a:avLst/>
          </a:prstGeom>
          <a:solidFill>
            <a:srgbClr val="0B10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DETERMINISTIC GRAPH FORENSICS (PURE MATH)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In-Memory NetworkX BFS Engine: Traverses multi-bank adjacency matrices locally in &lt;15ms with O(V+E) deterministic linear time.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SHA-256 Client-Side Anonymization: Hashes all citizen PII (Account, UPI, Phone) at ingestion; zero clear-text exposure.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Spatial Decay Softmax Formulation: Raw Score S_i = [1/(Dist)^1.2] * [Liquidity/Max] * [1 + 0.15*Velocity]. Softmax normalizes terminal risk with 88%+ confidence.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Zero Hallucination Guarantee: Pathfinding is strictly isolated from LLMs to eliminate false positive criminal accusations.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257800" cy="4754880"/>
          </a:xfrm>
          <a:prstGeom prst="roundRect">
            <a:avLst/>
          </a:prstGeom>
          <a:solidFill>
            <a:srgbClr val="0B102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STRUCTURED AI AGENT &amp; TECH MATRIX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Google Gemini 2.5 Flash: Enforces strict Pydantic v2 schemas to synthesize typed PoliceDispatchAlert JSON contracts.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Statutory Mandate Synthesis: Formats actionable Section 91 CrPC notice payloads for field police patrol units.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Frontend Console Stack: React 18, TypeScript, TailwindCSS, @xyflow/react (Dynamic DAGs), React-Leaflet GIS.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Backend Microservice Layer: FastAPI (Asynchronous Python), NumPy, Uvicorn (&lt;15ms latency).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Synthetic Dataset Contract: 50,000+ Multi-Tier Banking Transactions modeled on real I4C smurfing topologies.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FEASIBILITY, SECURITY &amp; PHASED ROADMAP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DPDP Act Compliance &amp; 3-Stage Production Engineering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SMART INDIA HACKATHON 2026 | PROJECT TRACEGRAPH-INTELLIGENCE (SIH26184) | ALTS NOMINATION | SLIDE 4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2011680"/>
          </a:xfrm>
          <a:prstGeom prst="roundRect">
            <a:avLst/>
          </a:prstGeom>
          <a:solidFill>
            <a:srgbClr val="0B10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DPDP ACT 2023 COMPLIANCE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SHA-256 local client hashing anonymizes all account data. Graph nodes operate strictly on cryptographic hash 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474720" cy="2011680"/>
          </a:xfrm>
          <a:prstGeom prst="roundRect">
            <a:avLst/>
          </a:prstGeom>
          <a:solidFill>
            <a:srgbClr val="0B10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HARDWARE EFFICIENCY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Runs locally on standard police workstations with &lt;400MB RAM footprint; zero costly enterprise cloud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17320"/>
            <a:ext cx="3474720" cy="2011680"/>
          </a:xfrm>
          <a:prstGeom prst="roundRect">
            <a:avLst/>
          </a:prstGeom>
          <a:solidFill>
            <a:srgbClr val="0B1021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OFFLINE AIR-GAPPED SOC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Deterministic graph and spatial engine operate fully air-gapped without mandatory internet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2514600"/>
          </a:xfrm>
          <a:prstGeom prst="roundRect">
            <a:avLst/>
          </a:prstGeom>
          <a:solidFill>
            <a:srgbClr val="0B102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PRODUCTION EXECUTION ROADMAP (DONE / NOW / NEXT)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('[DONE] Phase 0 &amp; 1 (Jan - Aug 2026):', 'Ground user research with cyber cells, Sub-15ms BFS graph engine, spatial decay solver, React Flow DAG console, simulated Sec 91 CrPC freeze API.')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('[NOW] Phase 2 (Sep - Nov 2026):', 'I4C Sandbox pilot ingesting anonymized historical NCRP complaint dumps, bank nodal mock webhook testing, PCR patrol GPS routing calibration.')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('[NEXT] Phase 3 (2027 Scale):', 'State-wide federation across 750+ District Cyber Crime Police Stations (CCPS), automated NPCI switch rails, full sovereign SOC deployment.')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IMPACT, NUMBERS &amp; BENCHMARKING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Comparative Capability Benchmark &amp; Quantified National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SMART INDIA HACKATHON 2026 | PROJECT TRACEGRAPH-INTELLIGENCE (SIH26184) | ALTS NOMINATION | SLIDE 5 OF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86200"/>
                <a:gridCol w="3886200"/>
              </a:tblGrid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0608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EXISTING 1930 / BANK WORKFLOW</a:t>
                      </a:r>
                    </a:p>
                  </a:txBody>
                  <a:tcPr>
                    <a:solidFill>
                      <a:srgbClr val="0608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PROJECT TRACEGRAPH-INTELLIGENCE (PROPOSED)</a:t>
                      </a:r>
                    </a:p>
                  </a:txBody>
                  <a:tcPr>
                    <a:solidFill>
                      <a:srgbClr val="06080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Traversal Latency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45 to 120 Minutes (Manual Emails)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&lt; 15 Milliseconds (Deterministic In-Memory BFS)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Cross-Bank Visibility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Siloed (Single Institution Ledger View)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Unified Cross-Bank Directed Multigraph (DAG)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ATM Cash-Out Prediction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Zero Capability (Post-Mortem CCTV Review)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Multi-Factor Spatial Decay Softmax Model (88%+)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Bank Freeze Notice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Manual Batch Nodal Emails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Automated Sec 91 CrPC REST Webhooks (&lt;100ms)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114800"/>
            <a:ext cx="10698480" cy="2057400"/>
          </a:xfrm>
          <a:prstGeom prst="roundRect">
            <a:avLst/>
          </a:prstGeom>
          <a:solidFill>
            <a:srgbClr val="0B10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QUANTIFIED BUILDER NUMBERS &amp; NATIONAL IMPACT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Operational Goal: Reduce inter-bank freeze TAT from 45 mins to &lt; 100 milliseconds; 65% reduction in unrecoverable ATM cash-outs.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User Scale &amp; Coverage: ~2,400 Triage Officers across 750+ District Police Cyber Cells and 40+ Scheduled Banks.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Projected Economic Return: Preserves estimated ₹1,200+ Crore annually; saves ~1,800 officer hours/week in manual drafting.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STATUTORY FRAMEWORKS &amp; CITATIONS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Official Research Foundation &amp; Legal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SMART INDIA HACKATHON 2026 | PROJECT TRACEGRAPH-INTELLIGENCE (SIH26184) | ALTS NOMINATION | SLIDE 6 OF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698480" cy="4754880"/>
          </a:xfrm>
          <a:prstGeom prst="roundRect">
            <a:avLst/>
          </a:prstGeom>
          <a:solidFill>
            <a:srgbClr val="0B102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OFFICIAL GOVERNMENT REPORTS, LEGAL STATUTES &amp; SCIENTIFIC CITATIONS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1. Indian Cyber Crime Coordination Centre (I4C), MHA: Citizen Financial Cyber Fraud Reporting &amp; Management System (CFCFRMS / Helpline 1930 SOP Guidelines).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2. Statutory Criminal Procedure Provisions: Section 91 &amp; Section 102, Code of Criminal Procedure (CrPC) for Digital Requisitioning and Precautionary Account Seizure.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3. Cybersecurity &amp; Incident Mitigation Mandates: Section 69B &amp; Section 70B, Information Technology Act, 2000 (CERT-In Cybersecurity Directions).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4. Financial Messaging Standards: ISO 20022 Universal Financial Industry Message Scheme &amp; NPCI Unified Payments Interface (UPI) Procedural Guidelines.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5. Graph Algorithms &amp; Applied Mathematics: A. Hagberg et al., 'Exploring Network Structure with NetworkX', Proceedings of SciPy Conference.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6. Geospatial Decay Modeling: R. W. Sinnott, 'Virtues of the Haversine', Sky and Telescope (Earth-surface distance computation).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